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99B865-5581-4483-9A6E-5452BD663AD1}" type="datetimeFigureOut">
              <a:rPr lang="it-IT" smtClean="0"/>
              <a:t>11/09/2026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ABAF0-A78D-4121-A455-0A25F4B5820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99214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-508000" y="922338"/>
            <a:ext cx="8178800" cy="4602162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2045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0D413C-7B6C-4177-9451-60A772AD7A6A}" type="slidenum">
              <a:rPr kumimoji="0" lang="it-IT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0204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it-IT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9712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11/09/2026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2328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11/09/2026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2846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63085" y="4406900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63085" y="2906716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11/09/2026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65347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1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11/09/2026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84558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11/09/2026</a:t>
            </a:fld>
            <a:endParaRPr lang="it-IT" dirty="0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91594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11/09/2026</a:t>
            </a:fld>
            <a:endParaRPr lang="it-IT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14806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11/09/2026</a:t>
            </a:fld>
            <a:endParaRPr lang="it-IT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85182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5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8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5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11/09/2026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82254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718" y="4800603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it-IT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718" y="5367341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11/09/2026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60810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11/09/2026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3570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1" y="274641"/>
            <a:ext cx="80264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11/09/2026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63054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609601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D6682-5943-4530-BC4D-6F078591F301}" type="datetimeFigureOut">
              <a:rPr lang="it-IT" smtClean="0"/>
              <a:pPr/>
              <a:t>11/09/2026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165602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7103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78"/>
          <p:cNvSpPr txBox="1"/>
          <p:nvPr/>
        </p:nvSpPr>
        <p:spPr>
          <a:xfrm>
            <a:off x="198211" y="179622"/>
            <a:ext cx="11892455" cy="6694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S.S.C. NAPOLI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Primavera – </a:t>
            </a: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Area Portieri – Stagione </a:t>
            </a: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2026/2027</a:t>
            </a:r>
            <a:endParaRPr kumimoji="0" lang="it-IT" sz="1875" b="1" i="1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6" name="Tabella 5"/>
          <p:cNvGraphicFramePr>
            <a:graphicFrameLocks noGrp="1"/>
          </p:cNvGraphicFramePr>
          <p:nvPr>
            <p:extLst/>
          </p:nvPr>
        </p:nvGraphicFramePr>
        <p:xfrm>
          <a:off x="198211" y="885572"/>
          <a:ext cx="5141704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4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5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8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Data:</a:t>
                      </a:r>
                      <a:r>
                        <a:rPr lang="it-IT" sz="800" baseline="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800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11/09/2026 </a:t>
                      </a:r>
                      <a:endParaRPr lang="it-IT" sz="8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Luogo: Arena – G.Piccolo di Cercola (NA)</a:t>
                      </a: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Coach: </a:t>
                      </a:r>
                      <a:r>
                        <a:rPr lang="it-IT" sz="900" dirty="0" err="1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A.Monteleone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All. </a:t>
                      </a:r>
                      <a:r>
                        <a:rPr lang="it-IT" sz="90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N°39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ella 48"/>
          <p:cNvGraphicFramePr>
            <a:graphicFrameLocks noGrp="1"/>
          </p:cNvGraphicFramePr>
          <p:nvPr>
            <p:extLst/>
          </p:nvPr>
        </p:nvGraphicFramePr>
        <p:xfrm>
          <a:off x="209342" y="1176087"/>
          <a:ext cx="5130574" cy="856557"/>
        </p:xfrm>
        <a:graphic>
          <a:graphicData uri="http://schemas.openxmlformats.org/drawingml/2006/table">
            <a:tbl>
              <a:tblPr/>
              <a:tblGrid>
                <a:gridCol w="729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7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3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33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57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81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01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5787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 </a:t>
                      </a:r>
                      <a:r>
                        <a:rPr lang="it-IT" sz="900" b="1" i="1" u="none" strike="noStrike" dirty="0" smtClean="0">
                          <a:solidFill>
                            <a:srgbClr val="000000"/>
                          </a:solidFill>
                          <a:latin typeface="Cambria"/>
                        </a:rPr>
                        <a:t> </a:t>
                      </a:r>
                      <a:endParaRPr lang="it-IT" sz="900" b="1" i="1" u="none" strike="noStrike" dirty="0">
                        <a:solidFill>
                          <a:srgbClr val="000000"/>
                        </a:solidFill>
                        <a:latin typeface="Cambria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Portieri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00" b="1" i="1" u="none" strike="noStrike" dirty="0">
                        <a:solidFill>
                          <a:srgbClr val="000000"/>
                        </a:solidFill>
                        <a:latin typeface="Cambria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SQUADRA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PALLONI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SPINELLI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Tattica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ASTE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3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AMENDOLA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Combinazioni/Tiri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MERONE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Palle Inattive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Partita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Defaticante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5363169" y="886813"/>
          <a:ext cx="6734395" cy="5848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945">
                  <a:extLst>
                    <a:ext uri="{9D8B030D-6E8A-4147-A177-3AD203B41FA5}">
                      <a16:colId xmlns:a16="http://schemas.microsoft.com/office/drawing/2014/main" val="2832034978"/>
                    </a:ext>
                  </a:extLst>
                </a:gridCol>
                <a:gridCol w="3558450">
                  <a:extLst>
                    <a:ext uri="{9D8B030D-6E8A-4147-A177-3AD203B41FA5}">
                      <a16:colId xmlns:a16="http://schemas.microsoft.com/office/drawing/2014/main" val="316629128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r>
                        <a:rPr lang="it-IT" sz="9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OBIETTIVO:</a:t>
                      </a:r>
                      <a:r>
                        <a:rPr lang="it-IT" sz="9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CAPACITA’ DI REAZIONE</a:t>
                      </a:r>
                      <a:endParaRPr lang="it-IT" sz="9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070092"/>
                  </a:ext>
                </a:extLst>
              </a:tr>
              <a:tr h="19545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M E P SCAMBIANO I PALLONI PER AUMENTARE LA SENSIBILITA’ E LA DESTRAZZA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PALLA SOPRA E SOTTO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PALLA LATERALE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PALLA BATTENTE AVANTI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VARIANTE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M LASCIA LA PALLA E P VA IN ADATTAMENTO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508696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 EFFETTUA SKIP PIU’ RECUPERO E 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-PASSAGGIO MEDIO E LUNGA  DISTANZA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-CON PRESE VARIE DIREZIONI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8798393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 REAGISCE  DA PALLA SBUCATA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554144"/>
                  </a:ext>
                </a:extLst>
              </a:tr>
            </a:tbl>
          </a:graphicData>
        </a:graphic>
      </p:graphicFrame>
      <p:sp>
        <p:nvSpPr>
          <p:cNvPr id="32" name="CasellaDiTesto 139"/>
          <p:cNvSpPr txBox="1"/>
          <p:nvPr/>
        </p:nvSpPr>
        <p:spPr>
          <a:xfrm>
            <a:off x="8364252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3" name="CasellaDiTesto 139"/>
          <p:cNvSpPr txBox="1"/>
          <p:nvPr/>
        </p:nvSpPr>
        <p:spPr>
          <a:xfrm>
            <a:off x="8584631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4" name="CasellaDiTesto 139"/>
          <p:cNvSpPr txBox="1"/>
          <p:nvPr/>
        </p:nvSpPr>
        <p:spPr>
          <a:xfrm>
            <a:off x="8364252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5" name="CasellaDiTesto 139"/>
          <p:cNvSpPr txBox="1"/>
          <p:nvPr/>
        </p:nvSpPr>
        <p:spPr>
          <a:xfrm>
            <a:off x="8584631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6" name="CasellaDiTesto 139"/>
          <p:cNvSpPr txBox="1"/>
          <p:nvPr/>
        </p:nvSpPr>
        <p:spPr>
          <a:xfrm>
            <a:off x="8364252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sp>
        <p:nvSpPr>
          <p:cNvPr id="37" name="CasellaDiTesto 139"/>
          <p:cNvSpPr txBox="1"/>
          <p:nvPr/>
        </p:nvSpPr>
        <p:spPr>
          <a:xfrm>
            <a:off x="8584631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209346" y="2057371"/>
            <a:ext cx="0" cy="4197778"/>
          </a:xfrm>
          <a:prstGeom prst="line">
            <a:avLst/>
          </a:prstGeom>
          <a:ln w="127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2" name="Table 41"/>
          <p:cNvGraphicFramePr>
            <a:graphicFrameLocks noGrp="1"/>
          </p:cNvGraphicFramePr>
          <p:nvPr>
            <p:extLst/>
          </p:nvPr>
        </p:nvGraphicFramePr>
        <p:xfrm>
          <a:off x="223809" y="2064425"/>
          <a:ext cx="5116107" cy="4275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801">
                  <a:extLst>
                    <a:ext uri="{9D8B030D-6E8A-4147-A177-3AD203B41FA5}">
                      <a16:colId xmlns:a16="http://schemas.microsoft.com/office/drawing/2014/main" val="3519220959"/>
                    </a:ext>
                  </a:extLst>
                </a:gridCol>
                <a:gridCol w="2754306">
                  <a:extLst>
                    <a:ext uri="{9D8B030D-6E8A-4147-A177-3AD203B41FA5}">
                      <a16:colId xmlns:a16="http://schemas.microsoft.com/office/drawing/2014/main" val="3575839258"/>
                    </a:ext>
                  </a:extLst>
                </a:gridCol>
              </a:tblGrid>
              <a:tr h="2429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ATTIVAZIONE </a:t>
                      </a:r>
                      <a:r>
                        <a:rPr lang="it-IT" sz="11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MOBILITA’ </a:t>
                      </a:r>
                      <a:endParaRPr lang="it-IT" sz="1100" i="1" dirty="0" smtClean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351159"/>
                  </a:ext>
                </a:extLst>
              </a:tr>
              <a:tr h="1748965">
                <a:tc>
                  <a:txBody>
                    <a:bodyPr/>
                    <a:lstStyle/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1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000" dirty="0" smtClean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542380"/>
                  </a:ext>
                </a:extLst>
              </a:tr>
              <a:tr h="242912">
                <a:tc>
                  <a:txBody>
                    <a:bodyPr/>
                    <a:lstStyle/>
                    <a:p>
                      <a:r>
                        <a:rPr lang="it-IT" sz="1100" b="1" i="1" kern="1200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+mn-ea"/>
                          <a:cs typeface="+mn-cs"/>
                        </a:rPr>
                        <a:t>ATTIVAZIONE </a:t>
                      </a:r>
                      <a:endParaRPr lang="it-IT" sz="1100" b="1" i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314229"/>
                  </a:ext>
                </a:extLst>
              </a:tr>
              <a:tr h="2040459">
                <a:tc>
                  <a:txBody>
                    <a:bodyPr/>
                    <a:lstStyle/>
                    <a:p>
                      <a:r>
                        <a:rPr lang="it-IT" sz="1000" baseline="0" dirty="0" smtClean="0"/>
                        <a:t>PROPOCETTIVA CON E SENZA PALLINE </a:t>
                      </a:r>
                    </a:p>
                    <a:p>
                      <a:r>
                        <a:rPr lang="it-IT" sz="1000" baseline="0" dirty="0" smtClean="0"/>
                        <a:t>+</a:t>
                      </a:r>
                    </a:p>
                    <a:p>
                      <a:r>
                        <a:rPr lang="it-IT" sz="1000" baseline="0" dirty="0" smtClean="0"/>
                        <a:t>PSICOCINETICA </a:t>
                      </a: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0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172784"/>
                  </a:ext>
                </a:extLst>
              </a:tr>
            </a:tbl>
          </a:graphicData>
        </a:graphic>
      </p:graphicFrame>
      <p:sp>
        <p:nvSpPr>
          <p:cNvPr id="2" name="AutoShape 2" descr="AG4IN NAPOLI 4 SCUDETTO FOREX 3mm, 30cm TIFOSO, CALCIO NAPOLETANO Indica Grafica - Foto 1 di 5"/>
          <p:cNvSpPr>
            <a:spLocks noChangeAspect="1" noChangeArrowheads="1"/>
          </p:cNvSpPr>
          <p:nvPr/>
        </p:nvSpPr>
        <p:spPr bwMode="auto">
          <a:xfrm>
            <a:off x="116681" y="-108347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F479252D-00F7-404E-B999-E8FC41B7F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26" y="6346725"/>
            <a:ext cx="5153090" cy="34047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81" y="69000"/>
            <a:ext cx="709796" cy="1010416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55" t="23120" r="31101" b="8000"/>
          <a:stretch/>
        </p:blipFill>
        <p:spPr>
          <a:xfrm>
            <a:off x="11144139" y="207794"/>
            <a:ext cx="613070" cy="6130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 flipH="1">
            <a:off x="-182881" y="6296809"/>
            <a:ext cx="6258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lang="it-IT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……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9649" y="3124319"/>
            <a:ext cx="1794649" cy="82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3395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140</Words>
  <Application>Microsoft Office PowerPoint</Application>
  <PresentationFormat>Widescreen</PresentationFormat>
  <Paragraphs>87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</vt:lpstr>
      <vt:lpstr>Times New Roman</vt:lpstr>
      <vt:lpstr>Tema di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</cp:revision>
  <dcterms:created xsi:type="dcterms:W3CDTF">2026-09-11T10:36:35Z</dcterms:created>
  <dcterms:modified xsi:type="dcterms:W3CDTF">2026-09-11T10:38:12Z</dcterms:modified>
</cp:coreProperties>
</file>