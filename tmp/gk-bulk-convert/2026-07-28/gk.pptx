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FE9FA6-0866-4FFE-AE5A-CB7F702F20AE}" type="datetimeFigureOut">
              <a:rPr lang="it-IT" smtClean="0"/>
              <a:t>28/07/2026</a:t>
            </a:fld>
            <a:endParaRPr lang="it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F21628-204E-46BE-B39E-528CF49ECCBD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665709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>
          <a:xfrm>
            <a:off x="144463" y="768350"/>
            <a:ext cx="6815137" cy="3833813"/>
          </a:xfrm>
        </p:spPr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50D413C-7B6C-4177-9451-60A772AD7A6A}" type="slidenum">
              <a:rPr kumimoji="0" lang="it-IT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it-IT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612124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28/07/2026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81215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28/07/2026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7452460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963085" y="4406900"/>
            <a:ext cx="103632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963085" y="2906716"/>
            <a:ext cx="103632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28/07/2026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609813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97601" y="1600203"/>
            <a:ext cx="53848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28/07/2026</a:t>
            </a:fld>
            <a:endParaRPr lang="it-IT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804401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609602" y="1535113"/>
            <a:ext cx="5386917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09602" y="2174875"/>
            <a:ext cx="5386917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28/07/2026</a:t>
            </a:fld>
            <a:endParaRPr lang="it-IT" dirty="0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7785649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28/07/2026</a:t>
            </a:fld>
            <a:endParaRPr lang="it-IT" dirty="0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226884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28/07/2026</a:t>
            </a:fld>
            <a:endParaRPr lang="it-IT" dirty="0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5561424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5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8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5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28/07/2026</a:t>
            </a:fld>
            <a:endParaRPr lang="it-IT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157113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2389718" y="4800603"/>
            <a:ext cx="73152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2389718" y="612775"/>
            <a:ext cx="73152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it-IT" dirty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2389718" y="5367341"/>
            <a:ext cx="73152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28/07/2026</a:t>
            </a:fld>
            <a:endParaRPr lang="it-IT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220782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28/07/2026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811834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609601" y="274641"/>
            <a:ext cx="8026400" cy="5851525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28/07/2026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0240825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609601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BD6682-5943-4530-BC4D-6F078591F301}" type="datetimeFigureOut">
              <a:rPr lang="it-IT" smtClean="0"/>
              <a:pPr/>
              <a:t>28/07/2026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4165602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739744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jp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Box 78"/>
          <p:cNvSpPr txBox="1"/>
          <p:nvPr/>
        </p:nvSpPr>
        <p:spPr>
          <a:xfrm>
            <a:off x="198211" y="179622"/>
            <a:ext cx="11892455" cy="66941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75" b="1" i="1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S.S.C. NAPOLI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75" b="1" i="1" u="none" strike="noStrike" kern="1200" cap="none" spc="0" normalizeH="0" baseline="0" noProof="0" dirty="0" smtClean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Primavera – </a:t>
            </a:r>
            <a:r>
              <a:rPr kumimoji="0" lang="it-IT" sz="1875" b="1" i="1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Area Portieri – Stagione </a:t>
            </a:r>
            <a:r>
              <a:rPr kumimoji="0" lang="it-IT" sz="1875" b="1" i="1" u="none" strike="noStrike" kern="1200" cap="none" spc="0" normalizeH="0" baseline="0" noProof="0" dirty="0" smtClean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2026/2027</a:t>
            </a:r>
            <a:endParaRPr kumimoji="0" lang="it-IT" sz="1875" b="1" i="1" u="none" strike="noStrike" kern="1200" cap="none" spc="0" normalizeH="0" baseline="0" noProof="0" dirty="0">
              <a:ln>
                <a:noFill/>
              </a:ln>
              <a:solidFill>
                <a:srgbClr val="1F497D">
                  <a:lumMod val="60000"/>
                  <a:lumOff val="40000"/>
                </a:srgbClr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graphicFrame>
        <p:nvGraphicFramePr>
          <p:cNvPr id="6" name="Tabella 5"/>
          <p:cNvGraphicFramePr>
            <a:graphicFrameLocks noGrp="1"/>
          </p:cNvGraphicFramePr>
          <p:nvPr>
            <p:extLst/>
          </p:nvPr>
        </p:nvGraphicFramePr>
        <p:xfrm>
          <a:off x="198211" y="885572"/>
          <a:ext cx="5141704" cy="251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35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49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5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81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r>
                        <a:rPr lang="it-IT" sz="80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Data:</a:t>
                      </a:r>
                      <a:r>
                        <a:rPr lang="it-IT" sz="800" baseline="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 </a:t>
                      </a:r>
                      <a:r>
                        <a:rPr lang="it-IT" sz="800" baseline="0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28/07/2026 </a:t>
                      </a:r>
                      <a:endParaRPr lang="it-IT" sz="800" dirty="0">
                        <a:solidFill>
                          <a:schemeClr val="tx1"/>
                        </a:solidFill>
                        <a:latin typeface="Cambria" pitchFamily="18" charset="0"/>
                      </a:endParaRPr>
                    </a:p>
                  </a:txBody>
                  <a:tcPr marL="51435" marR="51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80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Luogo: Arena – G.Piccolo di Cercola (NA)</a:t>
                      </a:r>
                    </a:p>
                  </a:txBody>
                  <a:tcPr marL="51435" marR="51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90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Coach: </a:t>
                      </a:r>
                      <a:r>
                        <a:rPr lang="it-IT" sz="900" dirty="0" err="1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A.Monteleone</a:t>
                      </a:r>
                      <a:endParaRPr lang="it-IT" sz="900" dirty="0">
                        <a:solidFill>
                          <a:schemeClr val="tx1"/>
                        </a:solidFill>
                        <a:latin typeface="Cambria" pitchFamily="18" charset="0"/>
                      </a:endParaRPr>
                    </a:p>
                  </a:txBody>
                  <a:tcPr marL="51435" marR="51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90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All. </a:t>
                      </a:r>
                      <a:r>
                        <a:rPr lang="it-IT" sz="900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N°2</a:t>
                      </a:r>
                      <a:endParaRPr lang="it-IT" sz="900" dirty="0">
                        <a:solidFill>
                          <a:schemeClr val="tx1"/>
                        </a:solidFill>
                        <a:latin typeface="Cambria" pitchFamily="18" charset="0"/>
                      </a:endParaRPr>
                    </a:p>
                  </a:txBody>
                  <a:tcPr marL="51435" marR="51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ella 48"/>
          <p:cNvGraphicFramePr>
            <a:graphicFrameLocks noGrp="1"/>
          </p:cNvGraphicFramePr>
          <p:nvPr>
            <p:extLst/>
          </p:nvPr>
        </p:nvGraphicFramePr>
        <p:xfrm>
          <a:off x="209346" y="1200816"/>
          <a:ext cx="5130574" cy="856557"/>
        </p:xfrm>
        <a:graphic>
          <a:graphicData uri="http://schemas.openxmlformats.org/drawingml/2006/table">
            <a:tbl>
              <a:tblPr/>
              <a:tblGrid>
                <a:gridCol w="729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54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376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36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933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573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181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01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45787"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 Materiale        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 N°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 Materiale       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N°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Portieri 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900" b="1" i="1" u="none" strike="noStrike" dirty="0">
                        <a:solidFill>
                          <a:srgbClr val="000000"/>
                        </a:solidFill>
                        <a:latin typeface="Cambria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SQUADRA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 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PALLONI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SPINELLI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Tattica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9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STEP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2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MERONE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Combinazioni/Tiri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OVER</a:t>
                      </a:r>
                      <a:r>
                        <a:rPr lang="it-IT" sz="800" b="1" i="1" u="none" strike="noStrike" kern="1200" baseline="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 60CM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3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MAGLIANO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Palle Inattive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SAGOME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2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Partita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Defaticante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9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/>
          </p:nvPr>
        </p:nvGraphicFramePr>
        <p:xfrm>
          <a:off x="5399308" y="891357"/>
          <a:ext cx="6734395" cy="5848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5945">
                  <a:extLst>
                    <a:ext uri="{9D8B030D-6E8A-4147-A177-3AD203B41FA5}">
                      <a16:colId xmlns:a16="http://schemas.microsoft.com/office/drawing/2014/main" val="2832034978"/>
                    </a:ext>
                  </a:extLst>
                </a:gridCol>
                <a:gridCol w="3558450">
                  <a:extLst>
                    <a:ext uri="{9D8B030D-6E8A-4147-A177-3AD203B41FA5}">
                      <a16:colId xmlns:a16="http://schemas.microsoft.com/office/drawing/2014/main" val="316629128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r>
                        <a:rPr lang="it-IT" sz="900" i="1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OBIETTIVO: </a:t>
                      </a:r>
                      <a:r>
                        <a:rPr lang="it-IT" sz="900" i="1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USCITE</a:t>
                      </a:r>
                      <a:r>
                        <a:rPr lang="it-IT" sz="900" i="1" baseline="0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 BASSE </a:t>
                      </a:r>
                      <a:endParaRPr lang="it-IT" sz="9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6070092"/>
                  </a:ext>
                </a:extLst>
              </a:tr>
              <a:tr h="195453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GESTO TECNICO IN ANALITICO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P EFFETTUA DUE BALZI FRONT + USCITA BASSA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VARIAZIONE BALZI LATERALI, FRONT LATERALI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USCITE BASSE , BATTENTE MEZZA ALTEZZA. </a:t>
                      </a:r>
                      <a:endParaRPr kumimoji="0" lang="it-IT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8508696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M RICEVE PALLA DA P , M METTE PALLA NELLO SPAZIO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P EFFETTUA USCITA BASSA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8798393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marL="92075" marR="0" lvl="0" indent="0" algn="l" defTabSz="914400" rtl="0" eaLnBrk="1" fontAlgn="auto" latinLnBrk="0" hangingPunct="1">
                        <a:lnSpc>
                          <a:spcPts val="12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Calibri"/>
                      </a:endParaRPr>
                    </a:p>
                    <a:p>
                      <a:pPr marL="0" algn="l" defTabSz="914400" rtl="0" eaLnBrk="1" latinLnBrk="0" hangingPunct="1"/>
                      <a:r>
                        <a:rPr lang="it-IT" sz="800" b="1" kern="1200" dirty="0" smtClean="0">
                          <a:solidFill>
                            <a:schemeClr val="tx1"/>
                          </a:solidFill>
                          <a:latin typeface="Cambria" pitchFamily="18" charset="0"/>
                          <a:ea typeface="+mn-ea"/>
                          <a:cs typeface="+mn-cs"/>
                        </a:rPr>
                        <a:t>M METTE PALLA IN</a:t>
                      </a:r>
                      <a:r>
                        <a:rPr lang="it-IT" sz="800" b="1" kern="1200" baseline="0" dirty="0" smtClean="0">
                          <a:solidFill>
                            <a:schemeClr val="tx1"/>
                          </a:solidFill>
                          <a:latin typeface="Cambria" pitchFamily="18" charset="0"/>
                          <a:ea typeface="+mn-ea"/>
                          <a:cs typeface="+mn-cs"/>
                        </a:rPr>
                        <a:t> AREA PICCOLA CON FILTRANTE O TRAVERSONE  P EFFETTUA DIFESA DELLO SAPZIO MEDIANTE USCITA BASSA I P DI MOVIMENTO SONO ATTIVI</a:t>
                      </a:r>
                      <a:endParaRPr lang="it-IT" sz="800" b="1" kern="1200" dirty="0" smtClean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554144"/>
                  </a:ext>
                </a:extLst>
              </a:tr>
            </a:tbl>
          </a:graphicData>
        </a:graphic>
      </p:graphicFrame>
      <p:sp>
        <p:nvSpPr>
          <p:cNvPr id="32" name="CasellaDiTesto 139"/>
          <p:cNvSpPr txBox="1"/>
          <p:nvPr/>
        </p:nvSpPr>
        <p:spPr>
          <a:xfrm>
            <a:off x="8364252" y="1194940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1</a:t>
            </a:r>
          </a:p>
        </p:txBody>
      </p:sp>
      <p:sp>
        <p:nvSpPr>
          <p:cNvPr id="33" name="CasellaDiTesto 139"/>
          <p:cNvSpPr txBox="1"/>
          <p:nvPr/>
        </p:nvSpPr>
        <p:spPr>
          <a:xfrm>
            <a:off x="8584631" y="1194940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1</a:t>
            </a:r>
          </a:p>
        </p:txBody>
      </p:sp>
      <p:sp>
        <p:nvSpPr>
          <p:cNvPr id="34" name="CasellaDiTesto 139"/>
          <p:cNvSpPr txBox="1"/>
          <p:nvPr/>
        </p:nvSpPr>
        <p:spPr>
          <a:xfrm>
            <a:off x="8364252" y="3145033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2</a:t>
            </a:r>
          </a:p>
        </p:txBody>
      </p:sp>
      <p:sp>
        <p:nvSpPr>
          <p:cNvPr id="35" name="CasellaDiTesto 139"/>
          <p:cNvSpPr txBox="1"/>
          <p:nvPr/>
        </p:nvSpPr>
        <p:spPr>
          <a:xfrm>
            <a:off x="8584631" y="3145033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2</a:t>
            </a:r>
          </a:p>
        </p:txBody>
      </p:sp>
      <p:sp>
        <p:nvSpPr>
          <p:cNvPr id="36" name="CasellaDiTesto 139"/>
          <p:cNvSpPr txBox="1"/>
          <p:nvPr/>
        </p:nvSpPr>
        <p:spPr>
          <a:xfrm>
            <a:off x="8364252" y="4981237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3</a:t>
            </a:r>
          </a:p>
        </p:txBody>
      </p:sp>
      <p:sp>
        <p:nvSpPr>
          <p:cNvPr id="37" name="CasellaDiTesto 139"/>
          <p:cNvSpPr txBox="1"/>
          <p:nvPr/>
        </p:nvSpPr>
        <p:spPr>
          <a:xfrm>
            <a:off x="8584631" y="4981237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3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209346" y="2057371"/>
            <a:ext cx="0" cy="4197778"/>
          </a:xfrm>
          <a:prstGeom prst="line">
            <a:avLst/>
          </a:prstGeom>
          <a:ln w="1270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42" name="Table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2503539"/>
              </p:ext>
            </p:extLst>
          </p:nvPr>
        </p:nvGraphicFramePr>
        <p:xfrm>
          <a:off x="223809" y="2064425"/>
          <a:ext cx="5116107" cy="42845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1801">
                  <a:extLst>
                    <a:ext uri="{9D8B030D-6E8A-4147-A177-3AD203B41FA5}">
                      <a16:colId xmlns:a16="http://schemas.microsoft.com/office/drawing/2014/main" val="3519220959"/>
                    </a:ext>
                  </a:extLst>
                </a:gridCol>
                <a:gridCol w="2754306">
                  <a:extLst>
                    <a:ext uri="{9D8B030D-6E8A-4147-A177-3AD203B41FA5}">
                      <a16:colId xmlns:a16="http://schemas.microsoft.com/office/drawing/2014/main" val="3575839258"/>
                    </a:ext>
                  </a:extLst>
                </a:gridCol>
              </a:tblGrid>
              <a:tr h="24291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100" i="1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ATTIVAZIONE</a:t>
                      </a:r>
                      <a:r>
                        <a:rPr lang="it-IT" sz="1100" i="1" baseline="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 </a:t>
                      </a:r>
                      <a:r>
                        <a:rPr lang="it-IT" sz="1100" i="1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 </a:t>
                      </a:r>
                      <a:endParaRPr lang="it-IT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100" dirty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351159"/>
                  </a:ext>
                </a:extLst>
              </a:tr>
              <a:tr h="1748965">
                <a:tc>
                  <a:txBody>
                    <a:bodyPr/>
                    <a:lstStyle/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000" dirty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4542380"/>
                  </a:ext>
                </a:extLst>
              </a:tr>
              <a:tr h="242912">
                <a:tc>
                  <a:txBody>
                    <a:bodyPr/>
                    <a:lstStyle/>
                    <a:p>
                      <a:endParaRPr lang="it-IT" sz="1100" b="1" i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100" dirty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9314229"/>
                  </a:ext>
                </a:extLst>
              </a:tr>
              <a:tr h="2040459">
                <a:tc>
                  <a:txBody>
                    <a:bodyPr/>
                    <a:lstStyle/>
                    <a:p>
                      <a:endParaRPr lang="it-IT" sz="1000" dirty="0"/>
                    </a:p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/>
                        </a:rPr>
                        <a:t>10 MIN LAVORO SU GLI APPOGGI CON LO STEP + LAVORO PODALICO </a:t>
                      </a:r>
                    </a:p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1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/>
                        </a:rPr>
                        <a:t>ATTIVAZIONE SPALLE BRACCIA</a:t>
                      </a:r>
                    </a:p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1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/>
                        </a:rPr>
                        <a:t>P EFFTTUERANNO DIVERSI APPOGGI</a:t>
                      </a:r>
                    </a:p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/>
                        </a:rPr>
                        <a:t>LAT,FRONT.,SCALCIATE,BALZI MONO E BIPODALICI PIU’ GESTO TECNICO PASSAGGIO</a:t>
                      </a:r>
                    </a:p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/>
                        </a:rPr>
                        <a:t>RASO,BATTENTE E MEZZA ALTEZZA</a:t>
                      </a:r>
                    </a:p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1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/>
                        </a:rPr>
                        <a:t>P EFFETTUA VARI APPOGGI ,MENTRE M MOSTRA I COLORI P CHIAMA IL NUMERO MOSTRATO DA P DI MOVIMENTO</a:t>
                      </a:r>
                    </a:p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/>
                        </a:rPr>
                        <a:t>AL SEGANLE P EFFETTUA DIF SPAZIO FUORI AREA DI TESTA</a:t>
                      </a:r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000" dirty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5172784"/>
                  </a:ext>
                </a:extLst>
              </a:tr>
            </a:tbl>
          </a:graphicData>
        </a:graphic>
      </p:graphicFrame>
      <p:sp>
        <p:nvSpPr>
          <p:cNvPr id="2" name="AutoShape 2" descr="AG4IN NAPOLI 4 SCUDETTO FOREX 3mm, 30cm TIFOSO, CALCIO NAPOLETANO Indica Grafica - Foto 1 di 5"/>
          <p:cNvSpPr>
            <a:spLocks noChangeAspect="1" noChangeArrowheads="1"/>
          </p:cNvSpPr>
          <p:nvPr/>
        </p:nvSpPr>
        <p:spPr bwMode="auto">
          <a:xfrm>
            <a:off x="116681" y="-108347"/>
            <a:ext cx="2286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6" name="Immagine 15">
            <a:extLst>
              <a:ext uri="{FF2B5EF4-FFF2-40B4-BE49-F238E27FC236}">
                <a16:creationId xmlns:a16="http://schemas.microsoft.com/office/drawing/2014/main" id="{F479252D-00F7-404E-B999-E8FC41B7FD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826" y="6346725"/>
            <a:ext cx="5153090" cy="34047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981" y="69000"/>
            <a:ext cx="667993" cy="950908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155" t="23120" r="31101" b="8000"/>
          <a:stretch/>
        </p:blipFill>
        <p:spPr>
          <a:xfrm>
            <a:off x="11144139" y="207794"/>
            <a:ext cx="613070" cy="61307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11353" y="4341040"/>
            <a:ext cx="1125876" cy="108534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37229" y="4375344"/>
            <a:ext cx="1602686" cy="108534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29209" y="1194940"/>
            <a:ext cx="1415990" cy="112026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29209" y="3110729"/>
            <a:ext cx="1396797" cy="951317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473742" y="3080564"/>
            <a:ext cx="1306728" cy="1051822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76080" y="5090882"/>
            <a:ext cx="2365938" cy="1204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59075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201</Words>
  <Application>Microsoft Office PowerPoint</Application>
  <PresentationFormat>Widescreen</PresentationFormat>
  <Paragraphs>102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Cambria</vt:lpstr>
      <vt:lpstr>Times New Roman</vt:lpstr>
      <vt:lpstr>Tema di Office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2</cp:revision>
  <dcterms:created xsi:type="dcterms:W3CDTF">2026-07-22T22:22:33Z</dcterms:created>
  <dcterms:modified xsi:type="dcterms:W3CDTF">2026-07-28T12:10:54Z</dcterms:modified>
</cp:coreProperties>
</file>